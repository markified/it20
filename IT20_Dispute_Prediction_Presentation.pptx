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</a:rPr>
              <a:t>Predictive Analytics for Early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0B329"/>
                </a:solidFill>
              </a:rPr>
              <a:t>of Disputed Accounts Receivable Invoices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606040"/>
            <a:ext cx="6702552" cy="4572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E8EDF2"/>
                </a:solidFill>
              </a:rPr>
              <a:t>Mark Clarence P. Balmes  •  College of Computing Education  •  University of Mindanao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1247120" cy="237744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109728" cy="237744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85800" y="3364992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CC1"/>
                </a:solidFill>
              </a:rPr>
              <a:t>THE 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1097280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dirty="0">
                <a:solidFill>
                  <a:srgbClr val="E8EDF2"/>
                </a:solidFill>
              </a:rPr>
              <a:t>  Disputed invoices stall cash collection &amp; raise Days Sales Outstanding (DSO)</a:t>
            </a:r>
          </a:p>
          <a:p>
            <a:pPr>
              <a:spcBef>
                <a:spcPts val="500"/>
              </a:spcBef>
            </a:pPr>
            <a:r>
              <a:rPr sz="2000" dirty="0">
                <a:solidFill>
                  <a:srgbClr val="E8EDF2"/>
                </a:solidFill>
              </a:rPr>
              <a:t>  Collectors currently react after disputes occur missing early intervention windows</a:t>
            </a:r>
          </a:p>
          <a:p>
            <a:pPr>
              <a:spcBef>
                <a:spcPts val="500"/>
              </a:spcBef>
            </a:pPr>
            <a:r>
              <a:rPr sz="2000" dirty="0">
                <a:solidFill>
                  <a:srgbClr val="E8EDF2"/>
                </a:solidFill>
              </a:rPr>
              <a:t>  Manual rules (country / amount thresholds) miss complex multi-feature patterns</a:t>
            </a:r>
          </a:p>
          <a:p>
            <a:pPr>
              <a:spcBef>
                <a:spcPts val="500"/>
              </a:spcBef>
            </a:pPr>
            <a:r>
              <a:rPr sz="2000" dirty="0">
                <a:solidFill>
                  <a:srgbClr val="E8EDF2"/>
                </a:solidFill>
              </a:rPr>
              <a:t>  Goal: predict at issuance time which invoices are likely to be disputed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</a:rPr>
              <a:t>Dispute Prediction System  |  IT20 Final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8EDF2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8EDF2"/>
                </a:solidFill>
              </a:rPr>
              <a:t>IBM Accounts Receivable Sample  WA_Fn-UseC_-Accounts-Receivable.csv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651760" cy="1170432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417320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2,466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20240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Total Invoices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1488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EDF2"/>
                </a:solidFill>
              </a:rPr>
              <a:t>12 raw attributes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325880"/>
            <a:ext cx="2651760" cy="1170432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72968" y="1325880"/>
            <a:ext cx="265176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417320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22.7%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20240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Dispute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488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EDF2"/>
                </a:solidFill>
              </a:rPr>
              <a:t>559 disputed / 1,907 clean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1325880"/>
            <a:ext cx="2651760" cy="1170432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1325880"/>
            <a:ext cx="265176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1417320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1920240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1488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EDF2"/>
                </a:solidFill>
              </a:rPr>
              <a:t>No imputation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78824" y="1325880"/>
            <a:ext cx="2651760" cy="1170432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78824" y="1325880"/>
            <a:ext cx="265176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51976" y="1417320"/>
            <a:ext cx="25054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80 /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1920240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 / Test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21488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EDF2"/>
                </a:solidFill>
              </a:rPr>
              <a:t>Stratified on Disputed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651760"/>
            <a:ext cx="5577840" cy="35661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2651760"/>
            <a:ext cx="5577840" cy="347472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2688336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Engineered Features (Leakage-Free)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063240"/>
            <a:ext cx="530352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</a:pPr>
            <a:r>
              <a:rPr sz="1400" dirty="0" err="1">
                <a:solidFill>
                  <a:srgbClr val="E8EDF2"/>
                </a:solidFill>
              </a:rPr>
              <a:t>countryCode</a:t>
            </a:r>
            <a:r>
              <a:rPr sz="1400" dirty="0">
                <a:solidFill>
                  <a:srgbClr val="E8EDF2"/>
                </a:solidFill>
              </a:rPr>
              <a:t>  — customer country</a:t>
            </a:r>
          </a:p>
          <a:p>
            <a:pPr algn="just">
              <a:spcBef>
                <a:spcPts val="400"/>
              </a:spcBef>
            </a:pPr>
            <a:r>
              <a:rPr sz="1400" dirty="0" err="1">
                <a:solidFill>
                  <a:srgbClr val="E8EDF2"/>
                </a:solidFill>
              </a:rPr>
              <a:t>PaperlessBill</a:t>
            </a:r>
            <a:r>
              <a:rPr sz="1400" dirty="0">
                <a:solidFill>
                  <a:srgbClr val="E8EDF2"/>
                </a:solidFill>
              </a:rPr>
              <a:t> — billing preference</a:t>
            </a:r>
          </a:p>
          <a:p>
            <a:pPr algn="just">
              <a:spcBef>
                <a:spcPts val="400"/>
              </a:spcBef>
            </a:pPr>
            <a:r>
              <a:rPr sz="1400" dirty="0" err="1">
                <a:solidFill>
                  <a:srgbClr val="E8EDF2"/>
                </a:solidFill>
              </a:rPr>
              <a:t>InvoiceAmount</a:t>
            </a:r>
            <a:r>
              <a:rPr sz="1400" dirty="0">
                <a:solidFill>
                  <a:srgbClr val="E8EDF2"/>
                </a:solidFill>
              </a:rPr>
              <a:t> — invoice value (USD)</a:t>
            </a:r>
          </a:p>
          <a:p>
            <a:pPr algn="just">
              <a:spcBef>
                <a:spcPts val="400"/>
              </a:spcBef>
            </a:pPr>
            <a:r>
              <a:rPr sz="1400" dirty="0" err="1">
                <a:solidFill>
                  <a:srgbClr val="E8EDF2"/>
                </a:solidFill>
              </a:rPr>
              <a:t>CreditTermDays</a:t>
            </a:r>
            <a:r>
              <a:rPr sz="1400" dirty="0">
                <a:solidFill>
                  <a:srgbClr val="E8EDF2"/>
                </a:solidFill>
              </a:rPr>
              <a:t> — due date window</a:t>
            </a:r>
          </a:p>
          <a:p>
            <a:pPr>
              <a:spcBef>
                <a:spcPts val="400"/>
              </a:spcBef>
            </a:pPr>
            <a:r>
              <a:rPr sz="1400" dirty="0" err="1">
                <a:solidFill>
                  <a:srgbClr val="E8EDF2"/>
                </a:solidFill>
              </a:rPr>
              <a:t>InvoiceMonth</a:t>
            </a:r>
            <a:r>
              <a:rPr sz="1400" dirty="0">
                <a:solidFill>
                  <a:srgbClr val="E8EDF2"/>
                </a:solidFill>
              </a:rPr>
              <a:t> / </a:t>
            </a:r>
            <a:r>
              <a:rPr sz="1400" dirty="0" err="1">
                <a:solidFill>
                  <a:srgbClr val="E8EDF2"/>
                </a:solidFill>
              </a:rPr>
              <a:t>DayOfWeek</a:t>
            </a:r>
            <a:r>
              <a:rPr sz="1400" dirty="0">
                <a:solidFill>
                  <a:srgbClr val="E8EDF2"/>
                </a:solidFill>
              </a:rPr>
              <a:t> / Quarter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651760"/>
            <a:ext cx="5577840" cy="35661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80760" y="2651760"/>
            <a:ext cx="5577840" cy="347472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90488" y="2688336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Additional Features &amp; Excluded Columns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63240"/>
            <a:ext cx="53035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DaysSincePaperless — time on e-billing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CustomerFreq — past invoice count</a:t>
            </a:r>
          </a:p>
          <a:p>
            <a:pPr>
              <a:spcBef>
                <a:spcPts val="400"/>
              </a:spcBef>
            </a:pPr>
            <a:endParaRPr sz="1400">
              <a:solidFill>
                <a:srgbClr val="E8EDF2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⚠  Excluded (future leakage):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   DaysToSettle, DaysLate, SettledDate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DF2"/>
                </a:solidFill>
              </a:rPr>
              <a:t>Dispute Prediction System  |  IT20 Final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8EDF2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Predictive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2"/>
                </a:solidFill>
              </a:rPr>
              <a:t>Human-implemented baseline vs AI-recommended final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94960" cy="484632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394960" cy="347472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362456"/>
            <a:ext cx="5175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① Logistic Regression  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Selected for interpretability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Signed coefficients explain each flag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Robust on small tabular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Standardized features via StandardScaler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class_weight='balanced' for imbalance</a:t>
            </a:r>
          </a:p>
          <a:p>
            <a:pPr>
              <a:spcBef>
                <a:spcPts val="400"/>
              </a:spcBef>
            </a:pPr>
            <a:endParaRPr sz="1400">
              <a:solidFill>
                <a:srgbClr val="E8EDF2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Result:  Precision ≤ 0.30  →  Not suitable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         as operational ranker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25880"/>
            <a:ext cx="5852160" cy="484632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1325880"/>
            <a:ext cx="5852160" cy="347472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9048" y="1362456"/>
            <a:ext cx="5632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② Random Forest  (Final Model)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5577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AI-recommended for non-linear interactions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Captures Country × Amount × CustomerFreq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Built-in feature importance reporting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GridSearchCV tuned on Precision (5-fold CV)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SelectKBest (ANOVA F-test) feature selection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Threshold calibrated via Precision-Recall curve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   Default 0.50  →  Calibrated 0.294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DF2"/>
                </a:solidFill>
              </a:rPr>
              <a:t>▸ FINAL MODEL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5772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0B32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DF2"/>
                </a:solidFill>
              </a:rPr>
              <a:t>Dispute Prediction System  |  IT20 Final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8EDF2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2"/>
                </a:solidFill>
              </a:rPr>
              <a:t>Held-out test set (20% stratified) — 4-model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103120" cy="1115568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10312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417320"/>
            <a:ext cx="1956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0.7713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2024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7752" y="1325880"/>
            <a:ext cx="2103120" cy="1115568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87752" y="1325880"/>
            <a:ext cx="210312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1417320"/>
            <a:ext cx="1956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0.4946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92024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214884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EDF2"/>
                </a:solidFill>
              </a:rPr>
              <a:t>Primary 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5464" y="1325880"/>
            <a:ext cx="2103120" cy="1115568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55464" y="1325880"/>
            <a:ext cx="210312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28616" y="1417320"/>
            <a:ext cx="1956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0.4107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8616" y="192024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3176" y="1325880"/>
            <a:ext cx="2103120" cy="1115568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23176" y="1325880"/>
            <a:ext cx="210312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96328" y="1417320"/>
            <a:ext cx="1956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0.4488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192024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90888" y="1325880"/>
            <a:ext cx="2103120" cy="1115568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90888" y="1325880"/>
            <a:ext cx="2103120" cy="5486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64040" y="1417320"/>
            <a:ext cx="1956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B329"/>
                </a:solidFill>
              </a:rPr>
              <a:t>0.7460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192024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14884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EDF2"/>
                </a:solidFill>
              </a:rPr>
              <a:t>&gt;0.70 production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46888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B329"/>
                </a:solidFill>
              </a:rPr>
              <a:t>Refined Random Forest — Final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88920"/>
            <a:ext cx="2377440" cy="420624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2788920"/>
            <a:ext cx="1554480" cy="420624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0" y="2852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788920"/>
            <a:ext cx="1645920" cy="420624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285292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788920"/>
            <a:ext cx="1371600" cy="420624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0" y="28529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2788920"/>
            <a:ext cx="1371600" cy="420624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28529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2788920"/>
            <a:ext cx="1554480" cy="420624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0" y="2852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209544"/>
            <a:ext cx="237744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3209544"/>
            <a:ext cx="237744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LR — Baseline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3209544"/>
            <a:ext cx="155448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697480" y="3209544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0" y="3291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0.5870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3209544"/>
            <a:ext cx="164592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51960" y="3209544"/>
            <a:ext cx="164592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0" y="3291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0.2946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3209544"/>
            <a:ext cx="137160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897880" y="3209544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0" y="3291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0.5893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3209544"/>
            <a:ext cx="137160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269480" y="3209544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0" y="3291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0.3929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41080" y="3209544"/>
            <a:ext cx="155448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641080" y="3209544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86800" y="3291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0.6192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630168"/>
            <a:ext cx="237744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" y="3630168"/>
            <a:ext cx="237744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12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RF — Baseline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97480" y="3630168"/>
            <a:ext cx="155448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697480" y="3630168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43200" y="37124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0.7126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3630168"/>
            <a:ext cx="164592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251960" y="3630168"/>
            <a:ext cx="164592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97680" y="37124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0.3707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97880" y="3630168"/>
            <a:ext cx="137160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897880" y="3630168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0" y="37124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0.3839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69480" y="3630168"/>
            <a:ext cx="137160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269480" y="3630168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0" y="37124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0.3772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41080" y="3630168"/>
            <a:ext cx="155448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641080" y="3630168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86800" y="37124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0.6200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050792"/>
            <a:ext cx="237744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20040" y="4050792"/>
            <a:ext cx="237744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6576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LR — Refined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97480" y="4050792"/>
            <a:ext cx="155448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697480" y="4050792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43200" y="4133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0.5931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51960" y="4050792"/>
            <a:ext cx="164592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251960" y="4050792"/>
            <a:ext cx="164592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297680" y="4133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0.2986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97880" y="4050792"/>
            <a:ext cx="137160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897880" y="4050792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0.5893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9480" y="4050792"/>
            <a:ext cx="137160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269480" y="4050792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31520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0.3964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1080" y="4050792"/>
            <a:ext cx="1554480" cy="420624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641080" y="4050792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686800" y="4133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2"/>
                </a:solidFill>
              </a:rPr>
              <a:t>0.6151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4471416"/>
            <a:ext cx="2377440" cy="42062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20040" y="4471416"/>
            <a:ext cx="237744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4553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RF — Refined 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97480" y="4471416"/>
            <a:ext cx="1554480" cy="42062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697480" y="4471416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743200" y="4553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0.7713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51960" y="4471416"/>
            <a:ext cx="1645920" cy="42062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251960" y="4471416"/>
            <a:ext cx="164592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297680" y="4553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0.4946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97880" y="4471416"/>
            <a:ext cx="1371600" cy="42062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897880" y="4471416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943600" y="4553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0.4107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269480" y="4471416"/>
            <a:ext cx="1371600" cy="42062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269480" y="4471416"/>
            <a:ext cx="137160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315200" y="4553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0.4488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41080" y="4471416"/>
            <a:ext cx="1554480" cy="420624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641080" y="4471416"/>
            <a:ext cx="1554480" cy="182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686800" y="4553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0.7460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0040" y="49834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DF2"/>
                </a:solidFill>
              </a:rPr>
              <a:t>Confusion Matrix (RF Refined): TP=46  FP=47  TN=335  FN=66   |   +33% Precision &amp; +20% ROC-AUC vs RF Baseline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DF2"/>
                </a:solidFill>
              </a:rPr>
              <a:t>Dispute Prediction System  |  IT20 Final Presentation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8EDF2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2"/>
                </a:solidFill>
              </a:rPr>
              <a:t>End-to-end architecture: ML training → FastAPI → Streamlit / ASP.NET MVC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560320" cy="237744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560320" cy="566928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380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①  ML Training
(Notebooks)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" y="2135124"/>
            <a:ext cx="23408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 err="1">
                <a:solidFill>
                  <a:srgbClr val="E8EDF2"/>
                </a:solidFill>
              </a:rPr>
              <a:t>GridSearchCV</a:t>
            </a:r>
            <a:r>
              <a:rPr sz="1300" b="0" i="0" dirty="0">
                <a:solidFill>
                  <a:srgbClr val="E8EDF2"/>
                </a:solidFill>
              </a:rPr>
              <a:t>
Refined RF
→ .</a:t>
            </a:r>
            <a:r>
              <a:rPr sz="1300" b="0" i="0" dirty="0" err="1">
                <a:solidFill>
                  <a:srgbClr val="E8EDF2"/>
                </a:solidFill>
              </a:rPr>
              <a:t>pkl</a:t>
            </a:r>
            <a:r>
              <a:rPr sz="1300" b="0" i="0" dirty="0">
                <a:solidFill>
                  <a:srgbClr val="E8EDF2"/>
                </a:solidFill>
              </a:rPr>
              <a:t> + </a:t>
            </a:r>
            <a:r>
              <a:rPr sz="1300" b="0" i="0" dirty="0" err="1">
                <a:solidFill>
                  <a:srgbClr val="E8EDF2"/>
                </a:solidFill>
              </a:rPr>
              <a:t>feature_info.json</a:t>
            </a:r>
            <a:endParaRPr sz="1300" b="0" i="0" dirty="0">
              <a:solidFill>
                <a:srgbClr val="E8EDF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648" y="22402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81528" y="1325880"/>
            <a:ext cx="2560320" cy="237744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81528" y="1325880"/>
            <a:ext cx="2560320" cy="566928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1380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  FastAPI
(py-app)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077974"/>
            <a:ext cx="23408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E8EDF2"/>
                </a:solidFill>
              </a:rPr>
              <a:t>POST /predict
JSON input
→ risk score +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0136" y="22402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3016" y="1325880"/>
            <a:ext cx="2560320" cy="237744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43016" y="1325880"/>
            <a:ext cx="2560320" cy="54864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34456" y="1380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  Streamlit
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080888"/>
            <a:ext cx="23408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E8EDF2"/>
                </a:solidFill>
              </a:rPr>
              <a:t>Input form
Prediction result
History log (SQLite)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2402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329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04504" y="1325880"/>
            <a:ext cx="2560320" cy="237744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04504" y="1325880"/>
            <a:ext cx="2560320" cy="54864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95944" y="1380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  ASP.NET MVC
Web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080888"/>
            <a:ext cx="23408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E8EDF2"/>
                </a:solidFill>
              </a:rPr>
              <a:t>.NET 10 frontend
Historical records
REST calls to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9547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dirty="0">
                <a:solidFill>
                  <a:srgbClr val="E8EDF2"/>
                </a:solidFill>
              </a:rPr>
              <a:t>1.  Collector opens the web / </a:t>
            </a:r>
            <a:r>
              <a:rPr sz="1300" dirty="0" err="1">
                <a:solidFill>
                  <a:srgbClr val="E8EDF2"/>
                </a:solidFill>
              </a:rPr>
              <a:t>Streamlit</a:t>
            </a:r>
            <a:r>
              <a:rPr sz="1300" dirty="0">
                <a:solidFill>
                  <a:srgbClr val="E8EDF2"/>
                </a:solidFill>
              </a:rPr>
              <a:t> app and fills in invoice details (amount, country, credit terms, customer history)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E8EDF2"/>
                </a:solidFill>
              </a:rPr>
              <a:t>2.  Form POSTs to </a:t>
            </a:r>
            <a:r>
              <a:rPr sz="1300" dirty="0" err="1">
                <a:solidFill>
                  <a:srgbClr val="E8EDF2"/>
                </a:solidFill>
              </a:rPr>
              <a:t>FastAPI</a:t>
            </a:r>
            <a:r>
              <a:rPr sz="1300" dirty="0">
                <a:solidFill>
                  <a:srgbClr val="E8EDF2"/>
                </a:solidFill>
              </a:rPr>
              <a:t> → model returns a risk score (0–1) and label (Dispute / No Dispute)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E8EDF2"/>
                </a:solidFill>
              </a:rPr>
              <a:t>3.  App displays the risk score and a ranked queue; high-risk invoices are flagged for proactive outreach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E8EDF2"/>
                </a:solidFill>
              </a:rPr>
              <a:t>4.  Each prediction is logged to SQLite for historical trend analysis and model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74903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B329"/>
                </a:solidFill>
              </a:rPr>
              <a:t>USER JOURNEY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DF2"/>
                </a:solidFill>
              </a:rPr>
              <a:t>Dispute Prediction System  |  IT20 Final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8EDF2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2"/>
                </a:solidFill>
              </a:rPr>
              <a:t>Turning predictions into collection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69280" cy="320040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669280" cy="347472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362456"/>
            <a:ext cx="5449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Top Drivers of Dispute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566928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E8EDF2"/>
                </a:solidFill>
              </a:rPr>
              <a:t>  </a:t>
            </a:r>
            <a:r>
              <a:rPr sz="1300" dirty="0" err="1">
                <a:solidFill>
                  <a:srgbClr val="E8EDF2"/>
                </a:solidFill>
              </a:rPr>
              <a:t>InvoiceAmount</a:t>
            </a:r>
            <a:r>
              <a:rPr sz="1300" dirty="0">
                <a:solidFill>
                  <a:srgbClr val="E8EDF2"/>
                </a:solidFill>
              </a:rPr>
              <a:t>  (~35%)   — larger invoices carry significantly higher dispute</a:t>
            </a:r>
            <a:r>
              <a:rPr lang="en-US" sz="1300" dirty="0">
                <a:solidFill>
                  <a:srgbClr val="E8EDF2"/>
                </a:solidFill>
              </a:rPr>
              <a:t> </a:t>
            </a:r>
            <a:r>
              <a:rPr sz="1300" dirty="0">
                <a:solidFill>
                  <a:srgbClr val="E8EDF2"/>
                </a:solidFill>
              </a:rPr>
              <a:t>risk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E8EDF2"/>
                </a:solidFill>
              </a:rPr>
              <a:t>  </a:t>
            </a:r>
            <a:r>
              <a:rPr sz="1300" dirty="0" err="1">
                <a:solidFill>
                  <a:srgbClr val="E8EDF2"/>
                </a:solidFill>
              </a:rPr>
              <a:t>CustomerFreq</a:t>
            </a:r>
            <a:r>
              <a:rPr sz="1300" dirty="0">
                <a:solidFill>
                  <a:srgbClr val="E8EDF2"/>
                </a:solidFill>
              </a:rPr>
              <a:t>  (~20%)    — newer customers (low </a:t>
            </a:r>
            <a:r>
              <a:rPr sz="1300" dirty="0" err="1">
                <a:solidFill>
                  <a:srgbClr val="E8EDF2"/>
                </a:solidFill>
              </a:rPr>
              <a:t>freq</a:t>
            </a:r>
            <a:r>
              <a:rPr sz="1300" dirty="0">
                <a:solidFill>
                  <a:srgbClr val="E8EDF2"/>
                </a:solidFill>
              </a:rPr>
              <a:t>) dispute more often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E8EDF2"/>
                </a:solidFill>
              </a:rPr>
              <a:t>  </a:t>
            </a:r>
            <a:r>
              <a:rPr sz="1300" dirty="0" err="1">
                <a:solidFill>
                  <a:srgbClr val="E8EDF2"/>
                </a:solidFill>
              </a:rPr>
              <a:t>countryCode</a:t>
            </a:r>
            <a:r>
              <a:rPr sz="1300" dirty="0">
                <a:solidFill>
                  <a:srgbClr val="E8EDF2"/>
                </a:solidFill>
              </a:rPr>
              <a:t>  (~16%)     — geographic patterns indicate regional credit risk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E8EDF2"/>
                </a:solidFill>
              </a:rPr>
              <a:t>  </a:t>
            </a:r>
            <a:r>
              <a:rPr sz="1300" dirty="0" err="1">
                <a:solidFill>
                  <a:srgbClr val="E8EDF2"/>
                </a:solidFill>
              </a:rPr>
              <a:t>CreditTermDays</a:t>
            </a:r>
            <a:r>
              <a:rPr sz="1300" dirty="0">
                <a:solidFill>
                  <a:srgbClr val="E8EDF2"/>
                </a:solidFill>
              </a:rPr>
              <a:t> (~12%)   — longer payment windows correlate with disputes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E8EDF2"/>
                </a:solidFill>
              </a:rPr>
              <a:t>  </a:t>
            </a:r>
            <a:r>
              <a:rPr sz="1300" dirty="0" err="1">
                <a:solidFill>
                  <a:srgbClr val="E8EDF2"/>
                </a:solidFill>
              </a:rPr>
              <a:t>DaysSincePaperless</a:t>
            </a:r>
            <a:r>
              <a:rPr sz="1300" dirty="0">
                <a:solidFill>
                  <a:srgbClr val="E8EDF2"/>
                </a:solidFill>
              </a:rPr>
              <a:t> (~10%) — newer e-billing adopters dispute more frequently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5577840" cy="320040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325880"/>
            <a:ext cx="5577840" cy="347472"/>
          </a:xfrm>
          <a:prstGeom prst="rect">
            <a:avLst/>
          </a:prstGeom>
          <a:solidFill>
            <a:srgbClr val="1A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362456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Deployment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DF2"/>
                </a:solidFill>
              </a:rPr>
              <a:t>  Deploy RF as a daily-scored ranked queue (threshold 0.294)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DF2"/>
                </a:solidFill>
              </a:rPr>
              <a:t>  Prioritise collectors on top-scored invoices to halve wasted outreach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DF2"/>
                </a:solidFill>
              </a:rPr>
              <a:t>  Monitor Precision &amp; ROC-AUC monthly on newly settled invoices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DF2"/>
                </a:solidFill>
              </a:rPr>
              <a:t>  Re-train quarterly as invoice volume and customer mix grow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DF2"/>
                </a:solidFill>
              </a:rPr>
              <a:t>  Use LR coefficient view as the explanation layer for auditors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DF2"/>
                </a:solidFill>
              </a:rPr>
              <a:t>  Run quarterly fairness audits by countryCode to prevent bias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63440"/>
            <a:ext cx="11521440" cy="146304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109728" cy="1463040"/>
          </a:xfrm>
          <a:prstGeom prst="rect">
            <a:avLst/>
          </a:prstGeom>
          <a:solidFill>
            <a:srgbClr val="F0B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7091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329"/>
                </a:solidFill>
              </a:rPr>
              <a:t>BUSINESS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1091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DF2"/>
                </a:solidFill>
              </a:rPr>
              <a:t>The Refined Random Forest flags ~49.5% of escalated invoices correctly — more than doubling the 22.7% baseline hit-rate of random outreach. Collectors can focus on the highest-risk queue, reducing DSO, cutting wasted calls, and improving cash-flow predictability for the shared-service finance center.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3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DF2"/>
                </a:solidFill>
              </a:rPr>
              <a:t>Dispute Prediction System  |  IT20 Final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8EDF2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831</Words>
  <Application>Microsoft Office PowerPoint</Application>
  <PresentationFormat>Custom</PresentationFormat>
  <Paragraphs>148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Mark Clarence</cp:lastModifiedBy>
  <cp:revision>7</cp:revision>
  <dcterms:created xsi:type="dcterms:W3CDTF">2013-01-27T09:14:16Z</dcterms:created>
  <dcterms:modified xsi:type="dcterms:W3CDTF">2026-05-12T17:25:15Z</dcterms:modified>
  <cp:category/>
</cp:coreProperties>
</file>