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Predictive Analytics for Early Identification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0B329"/>
                </a:solidFill>
              </a:rPr>
              <a:t>of Disputed Accounts Receivable Invoices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606040"/>
            <a:ext cx="6702552" cy="4572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Mark Clarence P. Balmes  •  College of Computing Education  •  University of Mindanao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11247120" cy="23774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291840"/>
            <a:ext cx="109728" cy="237744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36499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8CC1"/>
                </a:solidFill>
              </a:rPr>
              <a:t>THE BUSINESS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4903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E8EDF2"/>
                </a:solidFill>
              </a:rPr>
              <a:t>  Disputed invoices stall cash collection &amp; raise Days Sales Outstanding (DSO)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E8EDF2"/>
                </a:solidFill>
              </a:rPr>
              <a:t>  Collectors currently react after disputes occur — missing early intervention windows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E8EDF2"/>
                </a:solidFill>
              </a:rPr>
              <a:t>  Manual rules (country / amount thresholds) miss complex multi-feature patterns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E8EDF2"/>
                </a:solidFill>
              </a:rPr>
              <a:t>  Goal: predict at issuance time which invoices are likely to be disputed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</a:rPr>
              <a:t>IBM Accounts Receivable Sample — WA_Fn-UseC_-Accounts-Receivable.csv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651760" cy="1170432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265176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41732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2,466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9202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Invoices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148840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12 raw attributes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72968" y="1325880"/>
            <a:ext cx="2651760" cy="1170432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172968" y="1325880"/>
            <a:ext cx="265176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141732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22.7%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9202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Dispute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148840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559 disputed / 1,907 clean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25896" y="1325880"/>
            <a:ext cx="2651760" cy="1170432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25896" y="1325880"/>
            <a:ext cx="265176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9048" y="141732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19202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9048" y="2148840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No imputation required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78824" y="1325880"/>
            <a:ext cx="2651760" cy="1170432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78824" y="1325880"/>
            <a:ext cx="265176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141732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80 / 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192024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Train / Test Split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51976" y="2148840"/>
            <a:ext cx="2505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Stratified on Disputed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2651760"/>
            <a:ext cx="5577840" cy="35661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2651760"/>
            <a:ext cx="557784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" y="2688336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Engineered Features (Leakage-Free)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063240"/>
            <a:ext cx="53035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countryCode  — customer country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PaperlessBill — billing preference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InvoiceAmount — invoice value (USD)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CreditTermDays — due date window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InvoiceMonth / DayOfWeek / Quarter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0760" y="2651760"/>
            <a:ext cx="5577840" cy="35661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80760" y="2651760"/>
            <a:ext cx="557784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0488" y="2688336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Additional Features &amp; Excluded Columns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063240"/>
            <a:ext cx="53035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DaysSincePaperless — time on e-billing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CustomerFreq — past invoice count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⚠  Excluded (future leakage):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   DaysToSettle, DaysLate, SettledDate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Predictive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</a:rPr>
              <a:t>Human-implemented baseline vs AI-recommended final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5394960" cy="484632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539496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362456"/>
            <a:ext cx="51755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① Logistic Regression  (Baseline)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Selected for interpretability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Signed coefficients explain each flag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Robust on small tabular data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Standardized features via StandardScaler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class_weight='balanced' for imbalance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/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Result:  Precision ≤ 0.30  →  Not suitable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         as operational ranker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1325880"/>
            <a:ext cx="5852160" cy="484632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1325880"/>
            <a:ext cx="585216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9048" y="1362456"/>
            <a:ext cx="563270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② Random Forest  (Final Model)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37360"/>
            <a:ext cx="557784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AI-recommended for non-linear interactions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Captures Country × Amount × CustomerFreq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Built-in feature importance reporting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GridSearchCV tuned on Precision (5-fold CV)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SelectKBest (ANOVA F-test) feature selection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Threshold calibrated via Precision-Recall curve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   Default 0.50  →  Calibrated 0.294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E8EDF2"/>
                </a:solidFill>
              </a:rPr>
              <a:t>▸ FINAL MODEL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4747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0B329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Model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</a:rPr>
              <a:t>Held-out test set (20% stratified) — 4-model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103120" cy="1115568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210312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417320"/>
            <a:ext cx="19568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0.7713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1920240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7752" y="1325880"/>
            <a:ext cx="2103120" cy="1115568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87752" y="1325880"/>
            <a:ext cx="210312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417320"/>
            <a:ext cx="19568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0.4946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0904" y="1920240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0904" y="214884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Primary metric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55464" y="1325880"/>
            <a:ext cx="2103120" cy="1115568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55464" y="1325880"/>
            <a:ext cx="210312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1417320"/>
            <a:ext cx="19568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0.4107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8616" y="1920240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23176" y="1325880"/>
            <a:ext cx="2103120" cy="1115568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23176" y="1325880"/>
            <a:ext cx="210312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1417320"/>
            <a:ext cx="19568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0.4488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1920240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F1-Score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90888" y="1325880"/>
            <a:ext cx="2103120" cy="1115568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90888" y="1325880"/>
            <a:ext cx="2103120" cy="5486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64040" y="1417320"/>
            <a:ext cx="195681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0B329"/>
                </a:solidFill>
              </a:rPr>
              <a:t>0.7460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1920240"/>
            <a:ext cx="19568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0" y="2148840"/>
            <a:ext cx="19568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EDF2"/>
                </a:solidFill>
              </a:rPr>
              <a:t>&gt;0.70 production threshold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46888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B329"/>
                </a:solidFill>
              </a:rPr>
              <a:t>Refined Random Forest — Final 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88920"/>
            <a:ext cx="237744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8529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80" y="2788920"/>
            <a:ext cx="155448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2852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2788920"/>
            <a:ext cx="164592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0" y="2852928"/>
            <a:ext cx="1554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788920"/>
            <a:ext cx="137160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0" y="28529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69480" y="2788920"/>
            <a:ext cx="137160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285292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641080" y="2788920"/>
            <a:ext cx="1554480" cy="420624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0" y="2852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209544"/>
            <a:ext cx="237744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3209544"/>
            <a:ext cx="237744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291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LR — Baseline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697480" y="3209544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697480" y="3209544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0" y="3291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0.5870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3209544"/>
            <a:ext cx="164592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251960" y="3209544"/>
            <a:ext cx="164592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297680" y="329184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0.2946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97880" y="3209544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97880" y="3209544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0" y="3291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0.5893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69480" y="3209544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69480" y="3209544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0" y="32918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0.3929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3209544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641080" y="3209544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0" y="32918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0.6192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3630168"/>
            <a:ext cx="237744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20040" y="3630168"/>
            <a:ext cx="237744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37124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RF — Baseline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97480" y="3630168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97480" y="3630168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0" y="37124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0.7126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0" y="3630168"/>
            <a:ext cx="164592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251960" y="3630168"/>
            <a:ext cx="164592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97680" y="37124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0.3707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97880" y="3630168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897880" y="3630168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0" y="37124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0.3839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69480" y="3630168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69480" y="3630168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15200" y="371246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0.3772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41080" y="3630168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41080" y="3630168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86800" y="37124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0.6200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4050792"/>
            <a:ext cx="237744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20040" y="4050792"/>
            <a:ext cx="237744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1330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LR — Refined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697480" y="4050792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97480" y="4050792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43200" y="4133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0.5931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51960" y="4050792"/>
            <a:ext cx="164592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251960" y="4050792"/>
            <a:ext cx="164592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97680" y="4133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0.2986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897880" y="4050792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97880" y="4050792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943600" y="41330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0.5893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69480" y="4050792"/>
            <a:ext cx="137160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269480" y="4050792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315200" y="413308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0.3964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641080" y="4050792"/>
            <a:ext cx="1554480" cy="420624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641080" y="4050792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686800" y="4133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0.6151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20040" y="4471416"/>
            <a:ext cx="237744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0040" y="4471416"/>
            <a:ext cx="237744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455371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RF — Refined 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697480" y="4471416"/>
            <a:ext cx="155448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697480" y="4471416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743200" y="45537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0.7713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251960" y="4471416"/>
            <a:ext cx="164592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51960" y="4471416"/>
            <a:ext cx="164592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97680" y="455371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0.4946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897880" y="4471416"/>
            <a:ext cx="137160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897880" y="4471416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943600" y="45537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0.4107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269480" y="4471416"/>
            <a:ext cx="137160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69480" y="4471416"/>
            <a:ext cx="137160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315200" y="45537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0.4488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641080" y="4471416"/>
            <a:ext cx="1554480" cy="420624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641080" y="4471416"/>
            <a:ext cx="1554480" cy="1828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686800" y="45537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2B55"/>
                </a:solidFill>
              </a:rPr>
              <a:t>0.7460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0040" y="49834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DF2"/>
                </a:solidFill>
              </a:rPr>
              <a:t>Confusion Matrix (RF Refined): TP=46  FP=47  TN=335  FN=66   |   +33% Precision &amp; +20% ROC-AUC vs RF Baseline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</a:rPr>
              <a:t>End-to-end architecture: ML training → FastAPI → Streamlit / ASP.NET MVC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2560320" cy="23774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2560320" cy="4572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074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①  ML Training
(Notebooks)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874520"/>
            <a:ext cx="23408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GridSearchCV
Refined RF
→ .pkl + feature_info.json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22402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B329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81528" y="1325880"/>
            <a:ext cx="2560320" cy="23774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81528" y="1325880"/>
            <a:ext cx="2560320" cy="4572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72968" y="138074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②  FastAPI
(py-app)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91256" y="1874520"/>
            <a:ext cx="23408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POST /predict
JSON input
→ risk score + label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0136" y="22402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B329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43016" y="1325880"/>
            <a:ext cx="2560320" cy="23774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43016" y="1325880"/>
            <a:ext cx="2560320" cy="4572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34456" y="138074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③  Streamlit
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2744" y="1874520"/>
            <a:ext cx="23408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Input form
Prediction result
History log (SQLite)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21624" y="22402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0B329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04504" y="1325880"/>
            <a:ext cx="2560320" cy="23774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04504" y="1325880"/>
            <a:ext cx="2560320" cy="4572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1380744"/>
            <a:ext cx="2377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④  ASP.NET MVC
Web 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4232" y="1874520"/>
            <a:ext cx="2340864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E8EDF2"/>
                </a:solidFill>
              </a:rPr>
              <a:t>.NET 10 frontend
Historical records
REST calls to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3858768"/>
            <a:ext cx="11521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E8EDF2"/>
                </a:solidFill>
              </a:rPr>
              <a:t>1.  Collector opens the web / Streamlit app and fills in invoice details (amount, country, credit terms, customer history)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E8EDF2"/>
                </a:solidFill>
              </a:rPr>
              <a:t>2.  Form POSTs to FastAPI → model returns a risk score (0–1) and label (Dispute / No Dispute)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E8EDF2"/>
                </a:solidFill>
              </a:rPr>
              <a:t>3.  App displays the risk score and a ranked queue; high-risk invoices are flagged for proactive outreach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E8EDF2"/>
                </a:solidFill>
              </a:rPr>
              <a:t>4.  Each prediction is logged to SQLite for historical trend analysis and model monitoring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374903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B329"/>
                </a:solidFill>
              </a:rPr>
              <a:t>USER JOURNEY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Business Insights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EDF2"/>
                </a:solidFill>
              </a:rPr>
              <a:t>Turning predictions into collection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143000"/>
            <a:ext cx="12188952" cy="36576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5669280" cy="320040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566928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362456"/>
            <a:ext cx="54498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Top Drivers of Dispute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394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InvoiceAmount  (~35%)   — larger invoices carry significantly higher dispute risk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CustomerFreq  (~20%)    — newer customers (low freq) dispute more often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countryCode  (~16%)     — geographic patterns indicate regional credit risk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CreditTermDays (~12%)   — longer payment windows correlate with disputes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DaysSincePaperless (~10%) — newer e-billing adopters dispute more frequently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325880"/>
            <a:ext cx="5577840" cy="320040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80760" y="1325880"/>
            <a:ext cx="5577840" cy="347472"/>
          </a:xfrm>
          <a:prstGeom prst="rect">
            <a:avLst/>
          </a:prstGeom>
          <a:solidFill>
            <a:srgbClr val="1A8C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1362456"/>
            <a:ext cx="53583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Deployment Recommendations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530352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Deploy RF as a daily-scored ranked queue (threshold 0.294)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Prioritise collectors on top-scored invoices to halve wasted outreach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Monitor Precision &amp; ROC-AUC monthly on newly settled invoices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Re-train quarterly as invoice volume and customer mix grow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Use LR coefficient view as the explanation layer for auditors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E8EDF2"/>
                </a:solidFill>
              </a:rPr>
              <a:t>  Run quarterly fairness audits by countryCode to prevent bias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4663440"/>
            <a:ext cx="11521440" cy="146304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4663440"/>
            <a:ext cx="109728" cy="1463040"/>
          </a:xfrm>
          <a:prstGeom prst="rect">
            <a:avLst/>
          </a:prstGeom>
          <a:solidFill>
            <a:srgbClr val="F0B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B329"/>
                </a:solidFill>
              </a:rPr>
              <a:t>BUSINESS 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EDF2"/>
                </a:solidFill>
              </a:rPr>
              <a:t>The Refined Random Forest flags ~49.5% of escalated invoices correctly — more than doubling the 22.7% baseline hit-rate of random outreach. Collectors can focus on the highest-risk queue, reducing DSO, cutting wasted calls, and improving cash-flow predictability for the shared-service finance center.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333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8EDF2"/>
                </a:solidFill>
              </a:rPr>
              <a:t>Dispute Prediction System  |  IT20 Final Presentation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10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E8EDF2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